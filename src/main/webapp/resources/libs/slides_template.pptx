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CB4D3-9712-674D-85E2-CDF4713CA1D6}" type="datetimeFigureOut">
              <a:rPr lang="en-US" smtClean="0"/>
              <a:t>4/13/24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F466A-3148-9241-A1DC-8032999E8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5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34929"/>
            <a:ext cx="7772400" cy="1033463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20431"/>
            <a:ext cx="6400800" cy="46881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05200" y="3947065"/>
            <a:ext cx="2133600" cy="273844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70B337C-A50C-AB42-8B11-11E722B1E150}" type="datetime1">
              <a:rPr lang="en-CA" smtClean="0"/>
              <a:t>2024-04-13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1239"/>
            <a:ext cx="8229600" cy="32561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651" y="2201741"/>
            <a:ext cx="7772400" cy="1021556"/>
          </a:xfrm>
        </p:spPr>
        <p:txBody>
          <a:bodyPr anchor="t">
            <a:normAutofit/>
          </a:bodyPr>
          <a:lstStyle>
            <a:lvl1pPr algn="l">
              <a:defRPr sz="2800" b="1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>
            <a:normAutofit/>
          </a:bodyPr>
          <a:lstStyle>
            <a:lvl1pPr algn="l">
              <a:defRPr sz="2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422031"/>
            <a:ext cx="5111750" cy="417259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69377"/>
            <a:ext cx="3008313" cy="342524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B82096-8305-2CC0-8345-62FD4FED5E8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69573" y="4625996"/>
            <a:ext cx="3094251" cy="51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3429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name_map.cs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Metabolomic Data Analysis </a:t>
            </a:r>
            <a:r>
              <a:rPr lang="en-CA" dirty="0"/>
              <a:t>by M</a:t>
            </a:r>
            <a:r>
              <a:rPr dirty="0" err="1"/>
              <a:t>etaboAnalyst</a:t>
            </a:r>
            <a:r>
              <a:rPr dirty="0"/>
              <a:t>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87483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dirty="0"/>
              <a:t>Enrichment Analysis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0EB6D-5FA1-3D38-8557-1915F18C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3899359"/>
            <a:ext cx="2133600" cy="273844"/>
          </a:xfrm>
        </p:spPr>
        <p:txBody>
          <a:bodyPr/>
          <a:lstStyle/>
          <a:p>
            <a:r>
              <a:rPr lang="en-CA" dirty="0"/>
              <a:t>2024-04-13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Metabolite Set Enrichment Analysis (MSEA)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Identifies biologically meaningful patterns significantly enriched in metabolomic data.</a:t>
            </a:r>
          </a:p>
          <a:p>
            <a:pPr lvl="0"/>
            <a:r>
              <a:t>Utilizes over-representation analysis (ORA) to check for enrichment in a given list of compounds.</a:t>
            </a:r>
          </a:p>
          <a:p>
            <a:pPr lvl="0"/>
            <a:r>
              <a:t>Applies GlobalTest to examine if metabolite sets’ abundance profiles are associated with the study condition directly from a compound concentration table.</a:t>
            </a:r>
          </a:p>
          <a:p>
            <a:pPr lvl="0"/>
            <a:r>
              <a:rPr b="1"/>
              <a:t>Input:</a:t>
            </a:r>
            <a:r>
              <a:t> A list of compound names.</a:t>
            </a:r>
          </a:p>
          <a:p>
            <a:pPr lvl="0"/>
            <a:r>
              <a:rPr b="1"/>
              <a:t>Analysis Aim:</a:t>
            </a:r>
            <a:r>
              <a:t> To analyze enrichment from a predefined set of compounds.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9AF7F-E57B-533E-443A-03AE43D48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Name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b="1"/>
              <a:t>Objective:</a:t>
            </a:r>
            <a:r>
              <a:t> Standardize compound labels for consistency.</a:t>
            </a:r>
          </a:p>
          <a:p>
            <a:pPr lvl="0"/>
            <a:r>
              <a:rPr b="1"/>
              <a:t>Importance:</a:t>
            </a:r>
            <a:r>
              <a:t> Essential for comparing compounds with metabolite set libraries.</a:t>
            </a:r>
          </a:p>
          <a:p>
            <a:pPr lvl="0"/>
            <a:r>
              <a:rPr b="1"/>
              <a:t>Tools Supported:</a:t>
            </a:r>
            <a:r>
              <a:t> Converts between common names, synonyms, identifiers (e.g., HMDB ID, PubChem, ChEBI).</a:t>
            </a:r>
          </a:p>
          <a:p>
            <a:pPr lvl="0"/>
            <a:r>
              <a:rPr b="1"/>
              <a:t>Outcome:</a:t>
            </a:r>
            <a:r>
              <a:t> Table 1 shows conversion results.</a:t>
            </a:r>
          </a:p>
          <a:p>
            <a:pPr lvl="1"/>
            <a:r>
              <a:rPr i="1"/>
              <a:t>1:</a:t>
            </a:r>
            <a:r>
              <a:t> Exact match</a:t>
            </a:r>
          </a:p>
          <a:p>
            <a:pPr lvl="1"/>
            <a:r>
              <a:rPr i="1"/>
              <a:t>2:</a:t>
            </a:r>
            <a:r>
              <a:t> Approximate match</a:t>
            </a:r>
          </a:p>
          <a:p>
            <a:pPr lvl="1"/>
            <a:r>
              <a:rPr i="1"/>
              <a:t>0:</a:t>
            </a:r>
            <a:r>
              <a:t> No match</a:t>
            </a:r>
          </a:p>
          <a:p>
            <a:pPr lvl="0"/>
            <a:r>
              <a:rPr b="1"/>
              <a:t>Results File:</a:t>
            </a:r>
            <a:r>
              <a:t> </a:t>
            </a:r>
            <a:r>
              <a:rPr>
                <a:hlinkClick r:id="rId2"/>
              </a:rPr>
              <a:t>name_map.csv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77B21-10B9-1363-34CD-A6D37649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Enrichment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Conducts analysis to identify significantly enriched metabolite sets.</a:t>
            </a:r>
          </a:p>
          <a:p>
            <a:pPr lvl="0"/>
            <a:r>
              <a:t>Utilizes chosen library to match against study data for biological relevance.</a:t>
            </a:r>
          </a:p>
          <a:p>
            <a:pPr lvl="0"/>
            <a:r>
              <a:t>Results aid in understanding metabolic pathways or functions impacted.</a:t>
            </a:r>
          </a:p>
          <a:p>
            <a:pPr lvl="0"/>
            <a:r>
              <a:t>Selected Library: ` smpdb_pathway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EB75D-9588-480F-C721-C5C11737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Over Representation Analysis (ORA)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ORA investigates biologically meaningful patterns in a provided compound list.</a:t>
            </a:r>
          </a:p>
          <a:p>
            <a:pPr lvl="0"/>
            <a:r>
              <a:rPr dirty="0"/>
              <a:t>Utilizes hypergeometric test to check if metabolite sets are more represented than expected by chance.</a:t>
            </a:r>
          </a:p>
          <a:p>
            <a:pPr lvl="0"/>
            <a:r>
              <a:rPr dirty="0"/>
              <a:t>P-values are adjusted for multiple testing to highlight significant findings.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55B0C-53A1-818D-D436-D8BF7413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_2_dpi7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1: Summary of Over Representation Analysis results showing significant metabolite sets.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1BB75-4642-8AC0-A9A2-83C2BC0F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2: Enrichment network from ORA showing the interconnectedness of significant metabolite sets.</a:t>
            </a:r>
          </a:p>
        </p:txBody>
      </p:sp>
      <p:pic>
        <p:nvPicPr>
          <p:cNvPr id="2" name="Picture 1" descr="enrichment_networ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524000"/>
            <a:ext cx="40386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332FF-9FA6-001F-F1D3-22259811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_dot_2_dpi7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3: Dot plot summary from ORA indicating the significance and impact of each metabolite set.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BB749-C895-BFB6-10CC-94C193FB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Table 1: Results from Over Representation Analysis showing enriched metabolite sets.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785A97-2134-9DC1-35C2-65763D7290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0504382"/>
              </p:ext>
            </p:extLst>
          </p:nvPr>
        </p:nvGraphicFramePr>
        <p:xfrm>
          <a:off x="457200" y="1279538"/>
          <a:ext cx="8229600" cy="187713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886340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0147886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2775975"/>
                    </a:ext>
                  </a:extLst>
                </a:gridCol>
              </a:tblGrid>
              <a:tr h="375426"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964615"/>
                  </a:ext>
                </a:extLst>
              </a:tr>
              <a:tr h="375426"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669757"/>
                  </a:ext>
                </a:extLst>
              </a:tr>
              <a:tr h="375426"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083764"/>
                  </a:ext>
                </a:extLst>
              </a:tr>
              <a:tr h="375426"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64787"/>
                  </a:ext>
                </a:extLst>
              </a:tr>
              <a:tr h="375426"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56989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47A47-E8E5-6F56-D55E-F8B4FE57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 ——————————–  The report was generated on Mon Feb 19 15:53:59 2024 with OS system: Linux, version: ~22.04.1-Ubuntu SMP PREEMPT_DYNAMIC Tue Jan 16 14:32:32 UTC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F2A40-31BA-9943-BC87-D09DD750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347</Words>
  <Application>Microsoft Macintosh PowerPoint</Application>
  <PresentationFormat>On-screen Show (16:9)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Metabolomic Data Analysis by MetaboAnalyst Pro</vt:lpstr>
      <vt:lpstr>Metabolite Set Enrichment Analysis (MSEA)</vt:lpstr>
      <vt:lpstr>Name Mapping</vt:lpstr>
      <vt:lpstr>Enrichment Analysis</vt:lpstr>
      <vt:lpstr>Over Representation Analysis (ORA)</vt:lpstr>
      <vt:lpstr>PowerPoint Presentation</vt:lpstr>
      <vt:lpstr>PowerPoint Presentation</vt:lpstr>
      <vt:lpstr>PowerPoint Presentation</vt:lpstr>
      <vt:lpstr>Table 1: Results from Over Representation Analysis showing enriched metabolite sets.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Metabolomic Data Analysis by MetaboAnalyst Pro</dc:title>
  <dc:creator>Enrichment Analysis</dc:creator>
  <cp:keywords/>
  <cp:lastModifiedBy>Jeff Xia</cp:lastModifiedBy>
  <cp:revision>9</cp:revision>
  <dcterms:created xsi:type="dcterms:W3CDTF">2024-02-19T20:53:59Z</dcterms:created>
  <dcterms:modified xsi:type="dcterms:W3CDTF">2024-04-13T14:00:46Z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2024-02-19</vt:lpwstr>
  </property>
  <property fmtid="{D5CDD505-2E9C-101B-9397-08002B2CF9AE}" pid="3" name="output">
    <vt:lpwstr/>
  </property>
</Properties>
</file>